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Trebuchet MS" panose="020B0603020202020204" pitchFamily="34" charset="0"/>
      <p:regular r:id="rId13"/>
      <p:bold r:id="rId14"/>
      <p:italic r:id="rId15"/>
      <p:boldItalic r:id="rId16"/>
    </p:embeddedFont>
    <p:embeddedFont>
      <p:font typeface="Wingdings 3" panose="05040102010807070707" pitchFamily="18" charset="2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3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5589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670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3582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8158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69893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3122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4777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1707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5715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9798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46757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51678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10183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46610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086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33725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40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56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07446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Phalanx XDR — An Extended Detection and Response Platform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2616026"/>
            <a:ext cx="8549910" cy="968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 Unified Open-Source Security Fabric on a .NET 8 + Python Pipeline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Student:</a:t>
            </a:r>
            <a:r>
              <a:rPr lang="en-US" sz="12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Mbaziira Joel Jimmy (Reg ID: 012221086) | Bachelor of Science in Computer Engineering (Final Year)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Guidance:</a:t>
            </a:r>
            <a:r>
              <a:rPr lang="en-US" sz="12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Dr. Mayur Kumar | Department of ECE, FICT, ISBAT University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7681"/>
            <a:ext cx="55096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Overview of the Presentation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241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446088"/>
            <a:ext cx="4004965" cy="19050"/>
          </a:xfrm>
          <a:prstGeom prst="rect">
            <a:avLst/>
          </a:prstGeom>
          <a:solidFill>
            <a:srgbClr val="D3C5B6"/>
          </a:solidFill>
          <a:ln>
            <a:solidFill>
              <a:srgbClr val="92D050"/>
            </a:solidFill>
          </a:ln>
        </p:spPr>
        <p:txBody>
          <a:bodyPr/>
          <a:lstStyle/>
          <a:p>
            <a:endParaRPr lang="en-U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5550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Aim &amp; Objectives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186154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Democratizing security with accessible infrastructure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642842" y="12241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42842" y="1446088"/>
            <a:ext cx="4005039" cy="19050"/>
          </a:xfrm>
          <a:prstGeom prst="rect">
            <a:avLst/>
          </a:prstGeom>
          <a:solidFill>
            <a:srgbClr val="D3C5B6"/>
          </a:solidFill>
          <a:ln>
            <a:solidFill>
              <a:srgbClr val="92D050"/>
            </a:solidFill>
          </a:ln>
        </p:spPr>
        <p:txBody>
          <a:bodyPr/>
          <a:lstStyle/>
          <a:p>
            <a:endParaRPr lang="en-U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642842" y="15550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Motivation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42842" y="1861542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Why resource-constrained organizations face high security gaps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6119" y="233637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6119" y="2558281"/>
            <a:ext cx="4004965" cy="19050"/>
          </a:xfrm>
          <a:prstGeom prst="rect">
            <a:avLst/>
          </a:prstGeom>
          <a:solidFill>
            <a:srgbClr val="D3C5B6"/>
          </a:solidFill>
          <a:ln>
            <a:solidFill>
              <a:srgbClr val="92D050"/>
            </a:solidFill>
          </a:ln>
        </p:spPr>
        <p:txBody>
          <a:bodyPr/>
          <a:lstStyle/>
          <a:p>
            <a:endParaRPr lang="en-U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6119" y="26672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Literature Survey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6119" y="2973735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Examining the commercial vs. open-source SIEM landscape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42842" y="233637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42842" y="2558281"/>
            <a:ext cx="4005039" cy="19050"/>
          </a:xfrm>
          <a:prstGeom prst="rect">
            <a:avLst/>
          </a:prstGeom>
          <a:solidFill>
            <a:srgbClr val="D3C5B6"/>
          </a:solidFill>
          <a:ln>
            <a:solidFill>
              <a:srgbClr val="92D050"/>
            </a:solidFill>
          </a:ln>
        </p:spPr>
        <p:txBody>
          <a:bodyPr/>
          <a:lstStyle/>
          <a:p>
            <a:endParaRPr lang="en-U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642842" y="266722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Methodology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42842" y="2973735"/>
            <a:ext cx="400503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Engineering a three-tier decoupled collection and analysis pipeline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6119" y="367538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6119" y="3897288"/>
            <a:ext cx="4004965" cy="19050"/>
          </a:xfrm>
          <a:prstGeom prst="rect">
            <a:avLst/>
          </a:prstGeom>
          <a:solidFill>
            <a:srgbClr val="D3C5B6"/>
          </a:solidFill>
          <a:ln>
            <a:solidFill>
              <a:srgbClr val="92D050"/>
            </a:solidFill>
          </a:ln>
        </p:spPr>
        <p:txBody>
          <a:bodyPr/>
          <a:lstStyle/>
          <a:p>
            <a:endParaRPr lang="en-U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6119" y="4006230"/>
            <a:ext cx="18284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Scope &amp; Deliverables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6119" y="4312741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Technical parameters, codebases, and rule sets produced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42842" y="367538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 Light" pitchFamily="34" charset="-122"/>
                <a:cs typeface="Times New Roman" panose="02020603050405020304" pitchFamily="18" charset="0"/>
              </a:rPr>
              <a:t>06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42842" y="3897288"/>
            <a:ext cx="4005039" cy="19050"/>
          </a:xfrm>
          <a:prstGeom prst="rect">
            <a:avLst/>
          </a:prstGeom>
          <a:solidFill>
            <a:srgbClr val="D3C5B6"/>
          </a:solidFill>
          <a:ln>
            <a:solidFill>
              <a:srgbClr val="92D050"/>
            </a:solidFill>
          </a:ln>
        </p:spPr>
        <p:txBody>
          <a:bodyPr/>
          <a:lstStyle/>
          <a:p>
            <a:endParaRPr lang="en-U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42842" y="4006230"/>
            <a:ext cx="204363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Evidence &amp; Declaration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42842" y="4312741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System performance validation and formal sign-offs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975"/>
            <a:ext cx="3669060" cy="40146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Aim and Objectives</a:t>
            </a:r>
            <a:endParaRPr lang="en-US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050280"/>
            <a:ext cx="8151763" cy="39186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Core Vision:</a:t>
            </a: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To bridge the gap between steep commercial licensing fees and robust defense by building an open-source, unified host and network security fabric.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573113"/>
            <a:ext cx="4017690" cy="1421011"/>
          </a:xfrm>
          <a:prstGeom prst="roundRect">
            <a:avLst>
              <a:gd name="adj" fmla="val 13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523" y="1807518"/>
            <a:ext cx="173385" cy="1733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557" y="2203326"/>
            <a:ext cx="1605930" cy="20069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Cost Accessibility</a:t>
            </a:r>
            <a:endParaRPr lang="en-US" sz="12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4557" y="2473821"/>
            <a:ext cx="3760812" cy="39186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Eliminating licensing overhead by utilizing free, highly optimized runtimes tailored to run smoothly on legacy hardware.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30192" y="1573113"/>
            <a:ext cx="4017690" cy="1421011"/>
          </a:xfrm>
          <a:prstGeom prst="roundRect">
            <a:avLst>
              <a:gd name="adj" fmla="val 1356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8630" y="1701552"/>
            <a:ext cx="385390" cy="385390"/>
          </a:xfrm>
          <a:prstGeom prst="roundRect">
            <a:avLst>
              <a:gd name="adj" fmla="val 14827651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4596" y="1807518"/>
            <a:ext cx="173385" cy="1733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8630" y="2203326"/>
            <a:ext cx="1826121" cy="20069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Asynchronous Pipeline</a:t>
            </a:r>
            <a:endParaRPr lang="en-US" sz="12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758630" y="2473821"/>
            <a:ext cx="3760812" cy="391864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Engineering a decoupled .NET 8 ingestion mechanism and Redis message broker to handle extreme traffic spikes without data loss.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96119" y="3110508"/>
            <a:ext cx="4017690" cy="1616943"/>
          </a:xfrm>
          <a:prstGeom prst="roundRect">
            <a:avLst>
              <a:gd name="adj" fmla="val 1192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24557" y="3238946"/>
            <a:ext cx="385390" cy="385390"/>
          </a:xfrm>
          <a:prstGeom prst="roundRect">
            <a:avLst>
              <a:gd name="adj" fmla="val 14827651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523" y="3344912"/>
            <a:ext cx="173385" cy="1733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557" y="3740721"/>
            <a:ext cx="1605930" cy="20069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Unified Correlation</a:t>
            </a:r>
            <a:endParaRPr lang="en-US" sz="12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24557" y="4011216"/>
            <a:ext cx="3760812" cy="58779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Breaking down traditional IT silos by running a custom YAML engine that evaluates network traffic and endpoint data on a single plane.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30192" y="3110508"/>
            <a:ext cx="4017690" cy="1616943"/>
          </a:xfrm>
          <a:prstGeom prst="roundRect">
            <a:avLst>
              <a:gd name="adj" fmla="val 1192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58630" y="3238946"/>
            <a:ext cx="385390" cy="385390"/>
          </a:xfrm>
          <a:prstGeom prst="roundRect">
            <a:avLst>
              <a:gd name="adj" fmla="val 14827651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4596" y="3344912"/>
            <a:ext cx="173385" cy="1733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8630" y="3740721"/>
            <a:ext cx="1841897" cy="20069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Native Active Response</a:t>
            </a:r>
            <a:endParaRPr lang="en-US" sz="12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758630" y="4011216"/>
            <a:ext cx="3760812" cy="58779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Moving beyond simple alerts by automating immediate threat isolation, process termination, and traffic blocking via native OS utilities.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6466"/>
            <a:ext cx="5869558" cy="44298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Motivation of the Project Work</a:t>
            </a:r>
            <a:endParaRPr lang="en-US" sz="27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94022" y="1552054"/>
            <a:ext cx="4107135" cy="2694980"/>
          </a:xfrm>
          <a:prstGeom prst="roundRect">
            <a:avLst>
              <a:gd name="adj" fmla="val 789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5781" y="1693813"/>
            <a:ext cx="3138785" cy="221456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The Engineering &amp; Budget Gap</a:t>
            </a:r>
            <a:endParaRPr lang="en-US" sz="13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5781" y="2057028"/>
            <a:ext cx="3823618" cy="2140446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Disconnected Silos: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Standalone firewalls and host monitors hide the attack narrative, scattering indicators across separate logs.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Prohibitive Pricing: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Volume-based commercial licensing cuts off small enterprises, schools, and local organizations from standard defenses.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Fragmented Open Source: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Traditional tools require complex manual stitching and completely lack cross-layer automated response features.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49701" y="1693813"/>
            <a:ext cx="2437135" cy="221456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The Phalanx Approach</a:t>
            </a:r>
            <a:endParaRPr lang="en-US" sz="13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49701" y="2057028"/>
            <a:ext cx="3902943" cy="2140446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Architectural Unification: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Unified database engine processes network and endpoint events concurrently without performance degradation.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Decoupled by Design: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Placing a Redis queue in front of core analysis ensures the system accelerates under pressure instead of dropping events.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Instant Mitigation:</a:t>
            </a: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Talks directly to low-level OS actuators (nftables, tc, psutil) to neutralize active incidents within seconds.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3226073" cy="28024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Literature Survey</a:t>
            </a:r>
            <a:endParaRPr lang="en-US" sz="2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7407" y="1572667"/>
            <a:ext cx="4224593" cy="200329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The security platform landscape presents a clear trade-off between capability and cost. Commercial XDR solutions offer unified coverage but impose restrictive licensing. Standard SIEM stacks provide free logging yet remain operationally heavy without built-in mitigation. Standalone network sensors excel at traffic analysis but are blind to endpoint exploits. Phalanx XDR bridges these gaps by blending zero-cost software tools, unified host/network context, and native operational control inside a single deployment footprint.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11749" y="393502"/>
            <a:ext cx="4342443" cy="35161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443433"/>
            <a:ext cx="5394945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84237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Methodology of the Proposed Project Work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89199" y="856208"/>
            <a:ext cx="5765602" cy="2087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12430" y="2433897"/>
            <a:ext cx="1799112" cy="18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Management &amp; Response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112430" y="1804805"/>
            <a:ext cx="1444345" cy="18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Ingestion &amp; Pipeline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112430" y="1169293"/>
            <a:ext cx="1479952" cy="180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Telemetry Collection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62298" y="3012058"/>
            <a:ext cx="641940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The three-tier architecture ensures complete decoupling between data collection, analysis, and response — enabling the system to scale under load without event loss.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2773" y="3327202"/>
            <a:ext cx="2108597" cy="13728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93416" y="3429744"/>
            <a:ext cx="1580704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Tier 1: Telemetry Collection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493416" y="3611687"/>
            <a:ext cx="1865412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Deploys network daemons parsing passive DHCP traffic, DNS sniffing, and flow logs using raw Python sockets. Runs ultra-lightweight endpoint agents capturing process lifecycles, file adjustments, and memory usage metrics.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2865" y="3327202"/>
            <a:ext cx="2108671" cy="13728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3507" y="3429744"/>
            <a:ext cx="156574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Tier 2: Ingestion &amp; Pipeline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3653507" y="3611687"/>
            <a:ext cx="1865486" cy="985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API Engine:</a:t>
            </a:r>
            <a:r>
              <a:rPr lang="en-US" sz="7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Built on ASP.NET Core to ingest streaming JSON payloads with minimal pipeline latency. </a:t>
            </a:r>
            <a:r>
              <a:rPr lang="en-US" sz="7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Queue Layer:</a:t>
            </a:r>
            <a:r>
              <a:rPr lang="en-US" sz="7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Uses Redis to buffer incoming telemetry spikes smoothly, preventing system backpressure. </a:t>
            </a:r>
            <a:r>
              <a:rPr lang="en-US" sz="7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Correlator Service:</a:t>
            </a:r>
            <a:r>
              <a:rPr lang="en-US" sz="7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Background worker checking incoming logs against stateful YAML detection rule sets.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3030" y="3327202"/>
            <a:ext cx="2108597" cy="13728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13673" y="3429744"/>
            <a:ext cx="185268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Tier 3: Management &amp; Response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5813673" y="3611687"/>
            <a:ext cx="1865412" cy="985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Console Interface:</a:t>
            </a:r>
            <a:r>
              <a:rPr lang="en-US" sz="7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ASP.NET MVC dashboard delivering real-time alert popups utilizing web sockets. </a:t>
            </a:r>
            <a:r>
              <a:rPr lang="en-US" sz="7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Policy Automation:</a:t>
            </a:r>
            <a:r>
              <a:rPr lang="en-US" sz="7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Orchestration engine matching incoming alert profiles with active mitigation playbooks. </a:t>
            </a:r>
            <a:r>
              <a:rPr lang="en-US" sz="7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Data Engine:</a:t>
            </a:r>
            <a:r>
              <a:rPr lang="en-US" sz="7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Structured database tracking network states, device registries, and alert histories.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6466"/>
            <a:ext cx="498365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Scope of the Project Work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69381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Functional Bounds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2057028"/>
            <a:ext cx="3902943" cy="2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Monitored Domains:</a:t>
            </a: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File integrity, processes, raw sockets, user logins, DHCP states, and active local DNS queries.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Detection Footprint:</a:t>
            </a: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Over two dozen custom YAML rules explicitly mapped against malicious MITRE ATT&amp;CK techniques.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Active Containment:</a:t>
            </a: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Scripted network isolation, egress bandwidth throttling, process kills, and local rogue domain sinking.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647605" y="1552054"/>
            <a:ext cx="4107135" cy="2694980"/>
          </a:xfrm>
          <a:prstGeom prst="roundRect">
            <a:avLst>
              <a:gd name="adj" fmla="val 789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89363" y="1693813"/>
            <a:ext cx="40924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Operational Constraints &amp; Future Vectors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89363" y="2057028"/>
            <a:ext cx="3823618" cy="1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Environment Boundaries:</a:t>
            </a: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Engineered and tested directly within multi-VM local laboratory environments.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Target OS Constraints:</a:t>
            </a: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Native automated network actuators are optimized primarily for Linux kernel configurations.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Scalability Path:</a:t>
            </a: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Moving toward kernel-level tracing (eBPF) and decentralized cluster routing for multi-tenant installations.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76622"/>
            <a:ext cx="4722763" cy="77509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Technical Deliverables Produced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61834" y="1387339"/>
            <a:ext cx="3917857" cy="1854919"/>
          </a:xfrm>
          <a:prstGeom prst="roundRect">
            <a:avLst>
              <a:gd name="adj" fmla="val 1003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95699" y="1558315"/>
            <a:ext cx="1779612" cy="193849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System Documentation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10243" y="1876137"/>
            <a:ext cx="3738849" cy="126927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Monograph report covering systems design, logic modeling, and performance evaluation.</a:t>
            </a:r>
            <a:endParaRPr lang="en-US" sz="9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Six-step environment deployment runbook and rigorous data schema specifications.</a:t>
            </a:r>
            <a:endParaRPr lang="en-US" sz="9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730025" y="1414463"/>
            <a:ext cx="3917857" cy="1854919"/>
          </a:xfrm>
          <a:prstGeom prst="roundRect">
            <a:avLst>
              <a:gd name="adj" fmla="val 1003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44907" y="1570993"/>
            <a:ext cx="2059186" cy="38769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Core Software Repositories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25093" y="1991246"/>
            <a:ext cx="3698815" cy="115416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Structured .NET solution split into ingestion modules, engine workers, and dashboard controls.</a:t>
            </a:r>
            <a:endParaRPr lang="en-US" sz="9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Optimized, self-contained Python scripts for endpoint collection and network sensing.</a:t>
            </a:r>
            <a:endParaRPr lang="en-US" sz="9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4787" y="3377878"/>
            <a:ext cx="7913096" cy="1289000"/>
          </a:xfrm>
          <a:prstGeom prst="roundRect">
            <a:avLst>
              <a:gd name="adj" fmla="val 1444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49092" y="3501851"/>
            <a:ext cx="2237482" cy="193849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Rules &amp; Automation Controls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98122" y="3760812"/>
            <a:ext cx="7225786" cy="78209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Custom behavior analysis rule library mapped completely to operational matrix standards.</a:t>
            </a:r>
            <a:endParaRPr lang="en-US" sz="9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Production-ready orchestration templates configuration files managing the entire pipeline deployment.</a:t>
            </a:r>
            <a:endParaRPr lang="en-US" sz="9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8281"/>
            <a:ext cx="68385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Support Material &amp; System Evidence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2285628"/>
            <a:ext cx="27939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YAML Detection Rule Spec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2648843"/>
            <a:ext cx="390294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Simple syntax structures identifying high-severity events like web servers spawning local system shells.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Stateful rules aggregating and measuring event patterns over time to completely eliminate false positives.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49701" y="2285628"/>
            <a:ext cx="28636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Mitigation Playbook Design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49701" y="2648843"/>
            <a:ext cx="390294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Automated playbooks triggering immediate host network blocks upon critical security violations.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Built-in traffic rate limits and dry-run testing states to safeguard regular system operational stability.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434653"/>
            <a:ext cx="5200724" cy="36686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Declaration &amp; Acknowledgement</a:t>
            </a:r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355" y="995958"/>
            <a:ext cx="4015978" cy="848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6144" y="1127596"/>
            <a:ext cx="1785119" cy="18343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Presentation Permission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6144" y="1369293"/>
            <a:ext cx="3695551" cy="343346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Supervisor is fully informed and approved presentation for this review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6230" y="995958"/>
            <a:ext cx="4016053" cy="848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95019" y="1127596"/>
            <a:ext cx="1822103" cy="18343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Information Authenticity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795019" y="1369293"/>
            <a:ext cx="3695626" cy="343346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All data and metrics provided represent verified engineering implementations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21643" y="1953592"/>
            <a:ext cx="8557840" cy="17167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Student Details:</a:t>
            </a:r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 Mbaziira Joel Jimmy | Roll No: 012221086 | ISBAT University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21643" y="2263899"/>
            <a:ext cx="8100640" cy="14660"/>
          </a:xfrm>
          <a:prstGeom prst="roundRect">
            <a:avLst>
              <a:gd name="adj" fmla="val 120124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G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21643" y="2453655"/>
            <a:ext cx="2805187" cy="29341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Acknowledgement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21643" y="2892847"/>
            <a:ext cx="8100640" cy="343346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This project would not have been possible without the guidance and support of several individuals and institutions. I extend my sincere gratitude to all who contributed to the successful completion of this work.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355" y="3345507"/>
            <a:ext cx="2649662" cy="13633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6144" y="3477146"/>
            <a:ext cx="1467445" cy="18343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Supervisor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96144" y="3718843"/>
            <a:ext cx="2329235" cy="858366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Dr. Mayur Kumar  Department of ECE, FICT, ISBAT University. For expert technical guidance, consistent mentorship, and invaluable feedback throughout the research and development process.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9914" y="3345507"/>
            <a:ext cx="2649736" cy="13633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28702" y="3477146"/>
            <a:ext cx="1467445" cy="18343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Institution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3428702" y="3718843"/>
            <a:ext cx="2329309" cy="858366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ISBAT University — Faculty of ICT. For providing the academic infrastructure, laboratory resources, and institutional support necessary to undertake this research.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2547" y="3345507"/>
            <a:ext cx="2649736" cy="13633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61336" y="3477146"/>
            <a:ext cx="1467445" cy="183431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Times New Roman" panose="02020603050405020304" pitchFamily="18" charset="0"/>
                <a:ea typeface="Gelasio SemiBold" pitchFamily="34" charset="-122"/>
                <a:cs typeface="Times New Roman" panose="02020603050405020304" pitchFamily="18" charset="0"/>
              </a:rPr>
              <a:t>Peers &amp; Community</a:t>
            </a:r>
            <a:endParaRPr lang="en-US" sz="11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6161336" y="3718843"/>
            <a:ext cx="2329309" cy="68669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chemeClr val="tx1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Fellow students and the open-source community. For collaborative discussions, code reviews, and shared knowledge that enriched the technical depth of this project.</a:t>
            </a:r>
            <a:endParaRPr lang="en-US" sz="9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221</TotalTime>
  <Words>1097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Wingdings 3</vt:lpstr>
      <vt:lpstr>Times New Roman</vt:lpstr>
      <vt:lpstr>Arial</vt:lpstr>
      <vt:lpstr>Trebuchet MS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Mbaziira Joel</dc:creator>
  <cp:lastModifiedBy>MBAZIIRA JOEL JIMMY</cp:lastModifiedBy>
  <cp:revision>4</cp:revision>
  <dcterms:created xsi:type="dcterms:W3CDTF">2026-06-18T02:07:48Z</dcterms:created>
  <dcterms:modified xsi:type="dcterms:W3CDTF">2026-06-18T06:02:27Z</dcterms:modified>
</cp:coreProperties>
</file>